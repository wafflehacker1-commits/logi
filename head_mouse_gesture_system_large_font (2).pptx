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735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MG_2204.jpeg"/>
          <p:cNvPicPr>
            <a:picLocks noChangeAspect="1"/>
          </p:cNvPicPr>
          <p:nvPr/>
        </p:nvPicPr>
        <p:blipFill>
          <a:blip r:embed="rId3"/>
          <a:srcRect l="25000" t="8000" r="-21988"/>
          <a:stretch/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417320"/>
            <a:ext cx="5303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</a:rPr>
              <a:t>零接觸手勢辨識及頭控滑鼠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777240" y="2971800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DBEAF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Raspberry Pi 5、六軸 IMU 與 LogiInsight 手部 </a:t>
            </a:r>
            <a:r>
              <a:rPr lang="en-US" sz="1680" dirty="0" err="1">
                <a:solidFill>
                  <a:srgbClr val="DBEAF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landmarks，將</a:t>
            </a:r>
            <a:r>
              <a:rPr lang="zh-TW" altLang="en-US" sz="1680" dirty="0">
                <a:solidFill>
                  <a:srgbClr val="DBEAF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手勢</a:t>
            </a:r>
            <a:r>
              <a:rPr lang="en-US" sz="1680" dirty="0" err="1">
                <a:solidFill>
                  <a:srgbClr val="DBEAF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動作轉換為快捷鍵輸入</a:t>
            </a:r>
            <a:r>
              <a:rPr lang="en-US" sz="1680" dirty="0">
                <a:solidFill>
                  <a:srgbClr val="DBEAF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77240" y="4160520"/>
            <a:ext cx="1481328" cy="301752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41248" y="4233672"/>
            <a:ext cx="1353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IMU 頭控滑鼠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605327" y="4160520"/>
            <a:ext cx="1389888" cy="301752"/>
          </a:xfrm>
          <a:prstGeom prst="roundRect">
            <a:avLst>
              <a:gd name="adj" fmla="val 1515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2669335" y="4233672"/>
            <a:ext cx="1261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手勢快捷鍵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 / 使用情境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設計目標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777240" y="2487168"/>
            <a:ext cx="5577840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596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醫院或機場、百貨公司，這些公共場所能達到不用接觸</a:t>
            </a:r>
            <a:endParaRPr lang="en-US" sz="1596" dirty="0">
              <a:solidFill>
                <a:srgbClr val="111827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96" dirty="0" err="1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癱瘓或手部功能受限者，需要替代滑鼠與鍵盤。頭部可用來控制游標</a:t>
            </a:r>
            <a:r>
              <a:rPr lang="en-US" sz="1596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330" dirty="0"/>
          </a:p>
        </p:txBody>
      </p:sp>
      <p:sp>
        <p:nvSpPr>
          <p:cNvPr id="11" name="Shape 8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頭部滑鼠與手勢輸入系統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700" dirty="0"/>
          </a:p>
        </p:txBody>
      </p:sp>
      <p:pic>
        <p:nvPicPr>
          <p:cNvPr id="14" name="圖片 13" descr="Industrial Touch Screen Kiosks – how to Boost Engagement">
            <a:extLst>
              <a:ext uri="{FF2B5EF4-FFF2-40B4-BE49-F238E27FC236}">
                <a16:creationId xmlns:a16="http://schemas.microsoft.com/office/drawing/2014/main" id="{BEB277DB-E18E-BC2B-9628-449F49DC6E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041" t="1117" r="11389"/>
          <a:stretch>
            <a:fillRect/>
          </a:stretch>
        </p:blipFill>
        <p:spPr>
          <a:xfrm>
            <a:off x="7894121" y="1649868"/>
            <a:ext cx="3259777" cy="29318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 / 系統架構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兩條輸入路徑，各自負責不同任務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94944" y="13075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IMU 專注於連續游標；LogiInsight 手勢專注於離散快捷鍵。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31720" y="2834640"/>
            <a:ext cx="132588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846320" y="2834640"/>
            <a:ext cx="132588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360920" y="2834640"/>
            <a:ext cx="132588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1508760" cy="1188720"/>
          </a:xfrm>
          <a:prstGeom prst="roundRect">
            <a:avLst>
              <a:gd name="adj" fmla="val 6923"/>
            </a:avLst>
          </a:prstGeom>
          <a:solidFill>
            <a:srgbClr val="2563EB"/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1325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六軸 IMU</a:t>
            </a:r>
            <a:endParaRPr lang="en-US" sz="1300" dirty="0"/>
          </a:p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MPU6050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11880" y="2240280"/>
            <a:ext cx="1234440" cy="1188720"/>
          </a:xfrm>
          <a:prstGeom prst="roundRect">
            <a:avLst>
              <a:gd name="adj" fmla="val 6923"/>
            </a:avLst>
          </a:prstGeom>
          <a:solidFill>
            <a:srgbClr val="06B6D4"/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703320" y="2331720"/>
            <a:ext cx="10515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姿態校正</a:t>
            </a:r>
            <a:endParaRPr lang="en-US" sz="1300" dirty="0"/>
          </a:p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roll / pitch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2240280"/>
            <a:ext cx="1234440" cy="1188720"/>
          </a:xfrm>
          <a:prstGeom prst="roundRect">
            <a:avLst>
              <a:gd name="adj" fmla="val 6923"/>
            </a:avLst>
          </a:prstGeom>
          <a:solidFill>
            <a:srgbClr val="10B981"/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217920" y="2331720"/>
            <a:ext cx="10515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虛擬滑鼠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41080" y="2240280"/>
            <a:ext cx="1234440" cy="1188720"/>
          </a:xfrm>
          <a:prstGeom prst="roundRect">
            <a:avLst>
              <a:gd name="adj" fmla="val 6923"/>
            </a:avLst>
          </a:prstGeom>
          <a:solidFill>
            <a:srgbClr val="F59E0B"/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732520" y="2331720"/>
            <a:ext cx="10515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6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桌面游標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31720" y="5138928"/>
            <a:ext cx="132588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846320" y="5138928"/>
            <a:ext cx="132588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360920" y="5138928"/>
            <a:ext cx="132588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22960" y="4544568"/>
            <a:ext cx="1508760" cy="1188720"/>
          </a:xfrm>
          <a:prstGeom prst="roundRect">
            <a:avLst>
              <a:gd name="adj" fmla="val 6923"/>
            </a:avLst>
          </a:prstGeom>
          <a:solidFill>
            <a:srgbClr val="7C3AED"/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14400" y="4636008"/>
            <a:ext cx="1325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LogiInsight</a:t>
            </a:r>
            <a:endParaRPr lang="en-US" sz="1300" dirty="0"/>
          </a:p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手部 landmarks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11880" y="4544568"/>
            <a:ext cx="1234440" cy="1188720"/>
          </a:xfrm>
          <a:prstGeom prst="roundRect">
            <a:avLst>
              <a:gd name="adj" fmla="val 6923"/>
            </a:avLst>
          </a:prstGeom>
          <a:solidFill>
            <a:srgbClr val="7C3AED"/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703320" y="4636008"/>
            <a:ext cx="10515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多幀投票</a:t>
            </a:r>
            <a:endParaRPr lang="en-US" sz="1300" dirty="0"/>
          </a:p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狀態機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4544568"/>
            <a:ext cx="1234440" cy="1188720"/>
          </a:xfrm>
          <a:prstGeom prst="roundRect">
            <a:avLst>
              <a:gd name="adj" fmla="val 6923"/>
            </a:avLst>
          </a:prstGeom>
          <a:solidFill>
            <a:srgbClr val="10B981"/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17920" y="4636008"/>
            <a:ext cx="10515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Linux</a:t>
            </a:r>
            <a:endParaRPr lang="en-US" sz="1300" dirty="0"/>
          </a:p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快捷鍵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41080" y="4544568"/>
            <a:ext cx="1737360" cy="1188720"/>
          </a:xfrm>
          <a:prstGeom prst="roundRect">
            <a:avLst>
              <a:gd name="adj" fmla="val 6923"/>
            </a:avLst>
          </a:prstGeom>
          <a:solidFill>
            <a:srgbClr val="F59E0B"/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732520" y="4636008"/>
            <a:ext cx="15544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39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切換桌面Alt+Tab</a:t>
            </a:r>
            <a:endParaRPr lang="en-US" sz="1200" dirty="0"/>
          </a:p>
          <a:p>
            <a:pPr marL="0" indent="0" algn="ctr">
              <a:buNone/>
            </a:pPr>
            <a:r>
              <a:rPr lang="en-US" sz="1439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Ctrl+C / Ctrl+V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60533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9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原則：連續控制與離散指令分離，避免「移動」和「點擊」用同一種頭部動作造成混淆。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頭部滑鼠與手勢輸入系統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 / 頭部滑鼠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IMU 安裝方向與座標校正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94944" y="13075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先把原始加速度轉成頭部座標，再以啟動時的姿態當作中心點。</a:t>
            </a:r>
            <a:endParaRPr lang="en-US" sz="1100" dirty="0"/>
          </a:p>
        </p:txBody>
      </p:sp>
      <p:pic>
        <p:nvPicPr>
          <p:cNvPr id="5" name="Image 0" descr="/mnt/data/IMG_2204.jpeg"/>
          <p:cNvPicPr>
            <a:picLocks noChangeAspect="1"/>
          </p:cNvPicPr>
          <p:nvPr/>
        </p:nvPicPr>
        <p:blipFill>
          <a:blip r:embed="rId3"/>
          <a:srcRect l="25000" t="5000" r="-18407" b="10000"/>
          <a:stretch/>
        </p:blipFill>
        <p:spPr>
          <a:xfrm>
            <a:off x="777240" y="1783080"/>
            <a:ext cx="3429000" cy="4160520"/>
          </a:xfrm>
          <a:prstGeom prst="rect">
            <a:avLst/>
          </a:prstGeom>
        </p:spPr>
      </p:pic>
      <p:pic>
        <p:nvPicPr>
          <p:cNvPr id="6" name="Image 1" descr="/mnt/data/f60ff369c216fea9bf1a6c8138b293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266" y="1874520"/>
            <a:ext cx="2005149" cy="1828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086600" y="1783080"/>
            <a:ext cx="42976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1D5DB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/>
          <p:nvPr/>
        </p:nvSpPr>
        <p:spPr>
          <a:xfrm>
            <a:off x="736092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2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頭戴方向設定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60920" y="2606040"/>
            <a:ext cx="3520440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23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+X 朝上、-Y 朝前、+Z 朝右。
• 啟動時取 180 筆樣本，計算 neutral_roll / neutral_pitch。
• 之後只使用相對角度：目前角度 − 中心角度。
• I2C 偶發 Errno 121 時跳過該幀，連續錯誤時重新 wake MPU。</a:t>
            </a:r>
            <a:endParaRPr lang="en-US" sz="1270" dirty="0"/>
          </a:p>
        </p:txBody>
      </p:sp>
      <p:sp>
        <p:nvSpPr>
          <p:cNvPr id="10" name="Text 6"/>
          <p:cNvSpPr/>
          <p:nvPr/>
        </p:nvSpPr>
        <p:spPr>
          <a:xfrm>
            <a:off x="4617720" y="4160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8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調參焦點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617720" y="4526280"/>
            <a:ext cx="19202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DEADZONE</a:t>
            </a:r>
            <a:endParaRPr lang="en-US" sz="1350" dirty="0"/>
          </a:p>
          <a:p>
            <a:pPr marL="0" indent="0">
              <a:buNone/>
            </a:pPr>
            <a:r>
              <a:rPr lang="en-US" sz="162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MAX_STEP</a:t>
            </a:r>
            <a:endParaRPr lang="en-US" sz="1350" dirty="0"/>
          </a:p>
          <a:p>
            <a:pPr marL="0" indent="0">
              <a:buNone/>
            </a:pPr>
            <a:r>
              <a:rPr lang="en-US" sz="162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SMOOTH_ALPHA</a:t>
            </a:r>
            <a:endParaRPr lang="en-US" sz="1350" dirty="0"/>
          </a:p>
          <a:p>
            <a:pPr marL="0" indent="0">
              <a:buNone/>
            </a:pPr>
            <a:r>
              <a:rPr lang="en-US" sz="162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INVERT_X/Y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頭部滑鼠與手勢輸入系統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 / 頭控游標演算法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傾斜角度 → 游標速度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94944" y="13075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使用死區、平滑與非線性曲線，讓小角度精準、大角度快速。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" y="3749040"/>
            <a:ext cx="402336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017520" y="5166360"/>
            <a:ext cx="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606040" y="333756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240280" y="4297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9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中心 / 死區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5844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4920" y="35844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07792" y="20574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07792" y="5257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874520"/>
            <a:ext cx="45720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1D5DB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72084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2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目前採用的穩定版參數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274320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SMOOTH_ALPHA = 0.18</a:t>
            </a:r>
            <a:endParaRPr lang="en-US" sz="15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DEADZONE_X/Y = 3.5°</a:t>
            </a:r>
            <a:endParaRPr lang="en-US" sz="15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MAX_ANGLE_X/Y = 28°</a:t>
            </a:r>
            <a:endParaRPr lang="en-US" sz="15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MAX_STEP_X/Y = 22 px</a:t>
            </a:r>
            <a:endParaRPr lang="en-US" sz="15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CURVE = 1.65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20840" y="4663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靈敏度過高時：增大 DEADZONE、降低 MAX_STEP、降低 SMOOTH_ALPHA。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頭部滑鼠與手勢輸入系統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 / 手勢快捷鍵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LogiInsight</a:t>
            </a:r>
            <a:r>
              <a:rPr lang="en-US" sz="30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</a:t>
            </a:r>
            <a:r>
              <a:rPr lang="zh-TW" altLang="en-US" sz="30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手勢偵測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94944" y="13075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將手部 landmarks 轉換成 Linux 常用快捷鍵。</a:t>
            </a:r>
            <a:endParaRPr lang="en-US" sz="1100" dirty="0"/>
          </a:p>
        </p:txBody>
      </p:sp>
      <p:pic>
        <p:nvPicPr>
          <p:cNvPr id="5" name="Image 0" descr="/mnt/data/frame_0008.png"/>
          <p:cNvPicPr>
            <a:picLocks noChangeAspect="1"/>
          </p:cNvPicPr>
          <p:nvPr/>
        </p:nvPicPr>
        <p:blipFill>
          <a:blip r:embed="rId3"/>
          <a:srcRect r="7787"/>
          <a:stretch/>
        </p:blipFill>
        <p:spPr>
          <a:xfrm>
            <a:off x="713232" y="1783080"/>
            <a:ext cx="4572000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1755648"/>
            <a:ext cx="544068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D5DB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6126480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2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目前保留手勢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26480" y="2697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OK 手勢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3800" y="2697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複製 Ctrl+C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3246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b="1" dirty="0">
                <a:solidFill>
                  <a:srgbClr val="10B98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手掌張開不動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18120" y="3246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貼上 Ctrl+V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26480" y="3794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b="1" dirty="0">
                <a:solidFill>
                  <a:srgbClr val="7C3A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左右揮手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543800" y="3794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切換視窗 Alt+Tab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頭部滑鼠與手勢輸入系統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r>
              <a:rPr lang="en-US" altLang="zh-TW" sz="12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r>
              <a:rPr lang="en-US" sz="12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/ 手勢辨識邏輯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從單幀判斷到穩定觸發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94944" y="13075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debug 欄位可用來調參與定位誤判原因。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152238"/>
          </a:solidFill>
          <a:ln w="12700">
            <a:solidFill>
              <a:srgbClr val="152238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87552" y="224942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raw=open_palm  stable=open_palm  cx=105.1 cy=89.5  dx=+0.0 dy=+0.0 speed=0.0px/s  pinch=0.402 ext=4 conf=1.00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33101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9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48840" y="33101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9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單幀規則判斷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7856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9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48840" y="3785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9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最近 5 幀投票後的穩定手勢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611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9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cx / 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48840" y="42611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9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手掌中心在影像中的座標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7365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9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dx / dy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4736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9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歷史視窗內手掌中心移動量，單位為影像像素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3101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9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pinch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35240" y="33101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9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拇指尖與食指尖距離 ÷ 手掌尺度；小於門檻代表 OK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7856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9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35240" y="3785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9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四根手指中被判定伸直的數量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42611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9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35240" y="42611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9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LogiInsight 對手部偵測的信心值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頭部滑鼠與手勢輸入系統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4980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下一步：從原型到可用輔具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04672" y="141732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dirty="0" err="1">
                <a:solidFill>
                  <a:srgbClr val="BFDBF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優先改善穩定度、可校正性與使用者回饋</a:t>
            </a:r>
            <a:r>
              <a:rPr lang="en-US" sz="1560" dirty="0">
                <a:solidFill>
                  <a:srgbClr val="BFDBF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2331720"/>
            <a:ext cx="4846320" cy="1234440"/>
          </a:xfrm>
          <a:prstGeom prst="roundRect">
            <a:avLst>
              <a:gd name="adj" fmla="val 7407"/>
            </a:avLst>
          </a:prstGeom>
          <a:solidFill>
            <a:srgbClr val="1F2A44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97280" y="25603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固定線材與抗干擾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9718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縮短 SDA/</a:t>
            </a:r>
            <a:r>
              <a:rPr lang="en-US" sz="1320" dirty="0" err="1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SCL、焊接接頭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2331720"/>
            <a:ext cx="4846320" cy="1234440"/>
          </a:xfrm>
          <a:prstGeom prst="roundRect">
            <a:avLst>
              <a:gd name="adj" fmla="val 7407"/>
            </a:avLst>
          </a:prstGeom>
          <a:solidFill>
            <a:srgbClr val="1F2A44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29400" y="25603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點擊回饋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9718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TW" altLang="en-US" sz="132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增加震動馬達</a:t>
            </a:r>
            <a:r>
              <a:rPr lang="en-US" sz="132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</a:t>
            </a:r>
            <a:r>
              <a:rPr lang="en-US" sz="1320" dirty="0" err="1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讓使用者知道</a:t>
            </a:r>
            <a:r>
              <a:rPr lang="zh-TW" altLang="en-US" sz="132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點擊</a:t>
            </a:r>
            <a:r>
              <a:rPr lang="en-US" sz="1320" dirty="0" err="1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左鍵或右鍵</a:t>
            </a:r>
            <a:r>
              <a:rPr lang="en-US" sz="132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4343400"/>
            <a:ext cx="4846320" cy="1234440"/>
          </a:xfrm>
          <a:prstGeom prst="roundRect">
            <a:avLst>
              <a:gd name="adj" fmla="val 7407"/>
            </a:avLst>
          </a:prstGeom>
          <a:solidFill>
            <a:srgbClr val="1F2A44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97280" y="45720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增加手勢辨識的準確度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9834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TW" altLang="en-US" sz="132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增加手勢種類及準確度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4343400"/>
            <a:ext cx="4846320" cy="1234440"/>
          </a:xfrm>
          <a:prstGeom prst="roundRect">
            <a:avLst>
              <a:gd name="adj" fmla="val 7407"/>
            </a:avLst>
          </a:prstGeom>
          <a:solidFill>
            <a:srgbClr val="1F2A44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29400" y="45720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容錯與中止機制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29400" y="49834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加入一個實體大按鈕或保留鍵，能快速暫停自動點擊與手勢快捷鍵。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46920" y="6309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3C5F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Prototype v0.3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403</Words>
  <Application>Microsoft Office PowerPoint</Application>
  <PresentationFormat>寬螢幕</PresentationFormat>
  <Paragraphs>111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Noto Sans CJK TC</vt:lpstr>
      <vt:lpstr>Aptos Mono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NTU EE Prototype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頭部滑鼠與手勢輸入系統</dc:title>
  <dc:subject>頭部滑鼠與手勢輸入系統說明簡報</dc:subject>
  <dc:creator>OpenAI</dc:creator>
  <cp:lastModifiedBy>陳伯恆</cp:lastModifiedBy>
  <cp:revision>7</cp:revision>
  <dcterms:created xsi:type="dcterms:W3CDTF">2026-05-09T16:53:06Z</dcterms:created>
  <dcterms:modified xsi:type="dcterms:W3CDTF">2026-05-09T18:36:41Z</dcterms:modified>
</cp:coreProperties>
</file>